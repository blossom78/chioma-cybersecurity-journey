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77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10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15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93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757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89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0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5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4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7442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635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0447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73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04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32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53B63-5618-4C1D-926E-D4B767C40B40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644E35F-C19C-4AB6-9A48-696517AF3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2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33439-B475-98FD-21E8-BDB7E54671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Defending  sentinel bank against cyber threat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1310D-08F3-E13D-7563-8B07798485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 2</a:t>
            </a:r>
          </a:p>
        </p:txBody>
      </p:sp>
    </p:spTree>
    <p:extLst>
      <p:ext uri="{BB962C8B-B14F-4D97-AF65-F5344CB8AC3E}">
        <p14:creationId xmlns:p14="http://schemas.microsoft.com/office/powerpoint/2010/main" val="1506234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1F429-D6FF-450B-BFBA-C66C9E3E0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548" y="282931"/>
            <a:ext cx="10375187" cy="111435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F2700-0040-C74C-E650-8C51C7578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284"/>
            <a:ext cx="10515600" cy="5460715"/>
          </a:xfrm>
        </p:spPr>
        <p:txBody>
          <a:bodyPr>
            <a:normAutofit/>
          </a:bodyPr>
          <a:lstStyle/>
          <a:p>
            <a:pPr algn="l"/>
            <a:r>
              <a:rPr lang="en-US" i="0" dirty="0">
                <a:solidFill>
                  <a:srgbClr val="0D0D0D"/>
                </a:solidFill>
                <a:effectLst/>
                <a:latin typeface="Segoe UI Variable Display" pitchFamily="2" charset="0"/>
              </a:rPr>
              <a:t>About Our Bank: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Segoe UI Variable Display" pitchFamily="2" charset="0"/>
              </a:rPr>
              <a:t>Handles financial transactions for millions of customers.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Segoe UI Variable Display" pitchFamily="2" charset="0"/>
              </a:rPr>
              <a:t>Operates online and mobile banking platforms.</a:t>
            </a:r>
          </a:p>
          <a:p>
            <a:r>
              <a:rPr lang="en-US" i="0" dirty="0">
                <a:solidFill>
                  <a:srgbClr val="0D0D0D"/>
                </a:solidFill>
                <a:effectLst/>
                <a:latin typeface="Segoe UI Variable Display" pitchFamily="2" charset="0"/>
              </a:rPr>
              <a:t>Stores sensitive customer data, financial details and personal identification, making it a high-profile target for cybercriminals.</a:t>
            </a:r>
            <a:r>
              <a:rPr lang="en-US" i="0" dirty="0">
                <a:solidFill>
                  <a:srgbClr val="545D7E"/>
                </a:solidFill>
                <a:effectLst/>
                <a:latin typeface="Segoe UI Variable Display" pitchFamily="2" charset="0"/>
                <a:ea typeface="Segoe UI Black" panose="020B0A02040204020203" pitchFamily="34" charset="0"/>
              </a:rPr>
              <a:t> A data breach could lead to identity theft and significant financial losses</a:t>
            </a:r>
            <a:r>
              <a:rPr lang="en-US" i="0" dirty="0">
                <a:solidFill>
                  <a:srgbClr val="545D7E"/>
                </a:solidFill>
                <a:effectLst/>
                <a:latin typeface="Segoe UI Variable Display" pitchFamily="2" charset="0"/>
              </a:rPr>
              <a:t>. </a:t>
            </a:r>
            <a:r>
              <a:rPr lang="en-US" i="0" dirty="0">
                <a:solidFill>
                  <a:srgbClr val="0D0D0D"/>
                </a:solidFill>
                <a:effectLst/>
                <a:latin typeface="Segoe UI Variable Display" pitchFamily="2" charset="0"/>
              </a:rPr>
              <a:t> </a:t>
            </a:r>
          </a:p>
          <a:p>
            <a:pPr algn="l"/>
            <a:r>
              <a:rPr lang="en-US" i="0" dirty="0">
                <a:solidFill>
                  <a:srgbClr val="0D0D0D"/>
                </a:solidFill>
                <a:effectLst/>
                <a:latin typeface="Segoe UI Variable Display" pitchFamily="2" charset="0"/>
              </a:rPr>
              <a:t>Why Cybersecurity Is Critical: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Segoe UI Variable Display" pitchFamily="2" charset="0"/>
              </a:rPr>
              <a:t>Protect customer trust and financial assets.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Segoe UI Variable Display" pitchFamily="2" charset="0"/>
              </a:rPr>
              <a:t>Ensure compliance with regulatory bodies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545D7E"/>
                </a:solidFill>
                <a:effectLst/>
                <a:latin typeface="Segoe UI Variable Display" pitchFamily="2" charset="0"/>
              </a:rPr>
              <a:t>Cyber-attacks can cause direct financial losses for banks and their customers and reputational damage for the bank.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1D35"/>
                </a:solidFill>
                <a:effectLst/>
                <a:latin typeface="Segoe UI Variable Display" pitchFamily="2" charset="0"/>
              </a:rPr>
              <a:t>Staying ahead of evolving threats</a:t>
            </a:r>
            <a:endParaRPr lang="en-US" i="0" dirty="0">
              <a:solidFill>
                <a:srgbClr val="0D0D0D"/>
              </a:solidFill>
              <a:effectLst/>
              <a:latin typeface="Segoe UI Variable Display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828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671D-3037-A56F-6A7F-D12ED2418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Cyber Threats </a:t>
            </a:r>
            <a:b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DC449-B0DC-69AA-323F-3D7F2566A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Key Threats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Phishing attacks to steal customer data.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Ransomware targeting critical banking systems.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DDoS attacks disrupting online services.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Insider threats compromising sensitive data.</a:t>
            </a:r>
          </a:p>
          <a:p>
            <a:endParaRPr lang="en-US" dirty="0">
              <a:latin typeface="Segoe Fluent Icons" panose="050A01020101010101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607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7469-BAC8-1991-5448-8365E38F4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Defense Strategy 1 – Phishing</a:t>
            </a:r>
            <a:b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D8D8-8E80-5B91-3146-FE0B63AD3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447" y="1815351"/>
            <a:ext cx="10515600" cy="4351338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Key Measures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Train employees and customers to identify phishing.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Use email filters to block malicious emails.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Require MFA for all logins, it can be in </a:t>
            </a:r>
            <a:r>
              <a:rPr lang="en-US" b="0" i="0">
                <a:solidFill>
                  <a:srgbClr val="0D0D0D"/>
                </a:solidFill>
                <a:effectLst/>
                <a:latin typeface="Segoe UI Variable Text" pitchFamily="2" charset="0"/>
              </a:rPr>
              <a:t>form of codes 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sent to customers phone or hard tokens 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116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140C8-788B-51B4-891E-3BF734F2B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Defense Strategy 2 – Ransomware</a:t>
            </a:r>
            <a:b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68D57-5890-6D5B-C336-604200C52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Key Measures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Maintain secure offline backups.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Install endpoint protection on all devices connected to the network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Segment networks to limit ransomware spread.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494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F3F7-FAC7-7AB7-CAD4-AD9D652FD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Defense Strategy 3 – DDoS</a:t>
            </a:r>
            <a:b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1E17D-E10C-E16A-A4E1-479C16395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Key Measures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Use load balancers to distribute traffic.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Implement CDNs for caching.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Partner with anti-DDoS services for proactive mitigation.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084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37661-C917-6D73-52D6-93AA23059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Defense Strategy 4 – Insider Threats</a:t>
            </a:r>
            <a:b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370DE-22BE-4287-E2F6-8D081FB27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Key Measures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Limit data access with role-based controls.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Monitor for unusual employee activity.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Employ user behavior analytics to detect risks.</a:t>
            </a:r>
          </a:p>
          <a:p>
            <a:r>
              <a:rPr lang="en-US" i="0" dirty="0">
                <a:solidFill>
                  <a:srgbClr val="001D35"/>
                </a:solidFill>
                <a:effectLst/>
                <a:latin typeface="Google Sans"/>
              </a:rPr>
              <a:t>Implement strong authentication, make it difficult for attackers to gain access even if they received credentials from an employee though phishing.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72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CCDD1-B4C2-4D51-E0F5-85123B6F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Defense Strategy 5 – Supply Chain Security</a:t>
            </a:r>
            <a:b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3738F-6538-1BD4-D028-C7B49C5B3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Key Measures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Vet third-party vendors for compliance.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Enforce secure data-sharing protocols; this has to do with  implementing measures and practices to ensure that data exchanged between systems, users, or organizations is protected from unauthorized access, interception, or tampering.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Monitor supply chain activities for anomalies.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20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18436-D780-943B-BBF5-03312A68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Defense Strategy 6 – Fraud Prevention</a:t>
            </a:r>
            <a:b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8EB88-3F70-F81E-1EC0-D8AD90548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Key Measures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Deploy AI systems to detect fraud in real time, this can be done by monitoring transaction history and customers profiles.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Encrypt all sensitive data during transactions.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Monitor transactions for anomalies.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43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239F4-7E47-779F-0ED8-E86980574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Conclusion</a:t>
            </a:r>
            <a:b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</a:b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F6C6D4-FDA1-CFF9-6F47-C48678CC0C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804" y="1456675"/>
            <a:ext cx="7654248" cy="4680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79350" rIns="9144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Segoe UI Variable Tex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0DE74E-A6E7-AB08-1849-929AED6B9A0F}"/>
              </a:ext>
            </a:extLst>
          </p:cNvPr>
          <p:cNvSpPr txBox="1"/>
          <p:nvPr/>
        </p:nvSpPr>
        <p:spPr>
          <a:xfrm>
            <a:off x="390418" y="1924702"/>
            <a:ext cx="104385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Our strategies will safeguard customers’ trust and operational integrity.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Proactive defense ensures compliance and readiness against evolving threats.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Let’s invest in these measures to protect our bank and customers.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31651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160</TotalTime>
  <Words>435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Google Sans</vt:lpstr>
      <vt:lpstr>Segoe Fluent Icons</vt:lpstr>
      <vt:lpstr>Segoe UI Variable Display</vt:lpstr>
      <vt:lpstr>Segoe UI Variable Text</vt:lpstr>
      <vt:lpstr>Trebuchet MS</vt:lpstr>
      <vt:lpstr>Wingdings 3</vt:lpstr>
      <vt:lpstr>Facet</vt:lpstr>
      <vt:lpstr>Defending  sentinel bank against cyber threat</vt:lpstr>
      <vt:lpstr>Introduction</vt:lpstr>
      <vt:lpstr>Cyber Threats  </vt:lpstr>
      <vt:lpstr>Defense Strategy 1 – Phishing </vt:lpstr>
      <vt:lpstr>Defense Strategy 2 – Ransomware </vt:lpstr>
      <vt:lpstr>Defense Strategy 3 – DDoS </vt:lpstr>
      <vt:lpstr>Defense Strategy 4 – Insider Threats </vt:lpstr>
      <vt:lpstr>Defense Strategy 5 – Supply Chain Security </vt:lpstr>
      <vt:lpstr>Defense Strategy 6 – Fraud Prevention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chioma igbo</dc:creator>
  <cp:lastModifiedBy>chioma igbo</cp:lastModifiedBy>
  <cp:revision>6</cp:revision>
  <dcterms:created xsi:type="dcterms:W3CDTF">2024-12-07T22:41:05Z</dcterms:created>
  <dcterms:modified xsi:type="dcterms:W3CDTF">2024-12-08T17:06:08Z</dcterms:modified>
</cp:coreProperties>
</file>